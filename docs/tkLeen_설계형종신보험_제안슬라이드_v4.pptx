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7" r:id="rId28"/>
    <p:sldId id="278" r:id="rId29"/>
    <p:sldId id="279" r:id="rId30"/>
    <p:sldId id="280" r:id="rId31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1" r:id="rId32"/>
    <p:sldId id="282" r:id="rId33"/>
    <p:sldId id="283" r:id="rId34"/>
    <p:sldId id="284" r:id="rId35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Relationship Id="rId3" Type="http://schemas.openxmlformats.org/officeDocument/2006/relationships/image" Target="../media/image4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1060704" cy="146304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2834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spc="300" kern="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 PROPOSAL · 2026-09</a:t>
            </a:r>
            <a:endParaRPr lang="en-US" sz="11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31546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보장을 계약자가 그리는 </a:t>
            </a:r>
            <a:pPr indent="0" marL="0">
              <a:buNone/>
            </a:pPr>
            <a:r>
              <a:rPr lang="en-US" sz="4000" b="1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종신보험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416052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설계형 종신보험(생애 재설계형) 제안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정기 블록 조합 · 계약자 보장 경로 설계 · 해지 대신 재설계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6035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5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75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75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607161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보험·금융 실무를 위한 AI 워크플로우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선택의 주체가 회사에서 계약자로 이동한다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보장을 선택하고 보험료가 정해지는 과정: 현행과 설계형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 / 29</a:t>
            </a:r>
            <a:endParaRPr lang="en-US" sz="900" dirty="0"/>
          </a:p>
        </p:txBody>
      </p:sp>
      <p:pic>
        <p:nvPicPr>
          <p:cNvPr id="9" name="Image 1" descr="fig/A_proces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2984" y="1737360"/>
            <a:ext cx="8642985" cy="41605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8064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회사가 정한 보험금에 계약자가 보험료를 맞추던 구조가, 계약자가 정한 예산에 보험금 경로를 맞추는 구조로 바뀐다.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WHY NOW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 관점에서 무엇이 달라지는가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3 / 29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389120"/>
                <a:gridCol w="46908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계약자 관점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현행 종신보험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설계형 종신보험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 대상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회사가 정한 상품과 가입금액(평준·체증·체감 중 택일)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연령별 보험금 경로 그 자체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보험료 결정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선택의 결과로 사후에 정해진다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예산을 먼저 정하고 경로를 맞춘다. 경로 조정 즉시 재산출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필요와의 일치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자녀 독립·부채 만기 등 생애 사건과 무관하게 일정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필요가 큰 시기에 두껍게, 줄어드는 시기에 얇게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중도 변경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해지·감액·신규 가입. 사업비 손실과 재심사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준비금과 미래 보험료를 예산으로 재설계. 신계약비 없음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비교 정보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상품별 예시표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같은 예산의 대안(평준형·종신+정기·설계형)을 한 화면에서 비교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LIFECYCLE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계약자의 생애와 보장 경로: 필요할 때 두껍게, 필요가 줄면 얇게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4 / 29</a:t>
            </a:r>
            <a:endParaRPr lang="en-US" sz="900" dirty="0"/>
          </a:p>
        </p:txBody>
      </p:sp>
      <p:pic>
        <p:nvPicPr>
          <p:cNvPr id="8" name="Image 1" descr="fig/B_lifecyc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71" y="1737360"/>
            <a:ext cx="8323010" cy="3931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평준형 종신은 자녀가 어릴 때 부족하고 독립 후 과잉이 되기 쉽다. 설계형은 단체보험 기간은 낮게, 막내 자녀 독립까지 높게, 퇴직 이후 낮게 그린다.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BUDGET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예산, 다른 경로: 보험료 슬라이더가 가능한 이유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5 / 29</a:t>
            </a:r>
            <a:endParaRPr lang="en-US" sz="900" dirty="0"/>
          </a:p>
        </p:txBody>
      </p:sp>
      <p:pic>
        <p:nvPicPr>
          <p:cNvPr id="8" name="Image 1" descr="fig/C_bud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065" y="1737360"/>
            <a:ext cx="9980822" cy="3291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21208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납입기간 연금현가 ä가 고정이므로 경로를 비례 조정하면 보험료는 선형으로 움직인다. 월 보험료를 정하면 실현 가능한 경로가 즉시 나오고, 경로를 편집하면 보험료가 즉시 다시 계산된다.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MECHANISM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1년 블록이 보험료가 되는 과정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연령별 1년 정기 블록 → 현가 합산 → 평준화. 체증형·체감형·유니버설의 일반화이며 계리 이론상 새로운 것은 없다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6 / 29</a:t>
            </a:r>
            <a:endParaRPr lang="en-US" sz="900" dirty="0"/>
          </a:p>
        </p:txBody>
      </p:sp>
      <p:pic>
        <p:nvPicPr>
          <p:cNvPr id="9" name="Image 1" descr="fig/D_bloc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2746" y="1737360"/>
            <a:ext cx="8343460" cy="3657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40080" y="55321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50" dirty="0">
                <a:solidFill>
                  <a:srgbClr val="1B284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P = Σₜ₌₀¹⁰⁹⁻ˣ vᵗ⁺¹ · ₜpₓ · qₓ₊ₜ · Sₓ₊ₜ  ⁄  äₓ:ₙ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해지 대신 재설계: 준비금과 미래 보험료가 곧 예산이다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7 / 29</a:t>
            </a:r>
            <a:endParaRPr lang="en-US" sz="900" dirty="0"/>
          </a:p>
        </p:txBody>
      </p:sp>
      <p:pic>
        <p:nvPicPr>
          <p:cNvPr id="8" name="Image 1" descr="fig/E_redesig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065" y="1737360"/>
            <a:ext cx="9582823" cy="36576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5486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감액·감액완납·연장정기는 모두 이 등식의 특수해이다. 설계형은 특수해를 일반해로 바꾸어 해지되었을 계약을 축소된 형태로 유지하고, 기존 종신보험 보유고객을 흡수하는 통로가 된다.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앱: 계약자가 직접 그리고 즉시 확인한다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입력 → 근거 있는 프리셋 → 계약자가 그래프에서 조정 → 규칙 검증 → 보험료·환급금 산출 → 대안 비교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8 / 29</a:t>
            </a:r>
            <a:endParaRPr lang="en-US" sz="900" dirty="0"/>
          </a:p>
        </p:txBody>
      </p:sp>
      <p:pic>
        <p:nvPicPr>
          <p:cNvPr id="9" name="Picture 8" descr="desig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17320" y="1737360"/>
            <a:ext cx="675640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1 ·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보험사가 얻는 것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13 / 29</a:t>
            </a:r>
            <a:endParaRPr lang="en-US" sz="900" dirty="0"/>
          </a:p>
        </p:txBody>
      </p:sp>
      <p:pic>
        <p:nvPicPr>
          <p:cNvPr id="8" name="Image 1" descr="fig/G_benefi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857" y="1828800"/>
            <a:ext cx="9521237" cy="26517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40080" y="47548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40080" y="475488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686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차별점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연속적 경로와 재심사 없는 사전확정 증액(정기특약은 만기·갱신 단절이 있다), 생애주기 목표 기반 자동 설계, 사망보험금 유동화 특약과의 연계 확장성.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MARKET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타깃 세그먼트와 설계 패턴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가장 큰 경쟁자는 "종신 주계약 + 정기특약" 조합이다. 차별점은 연속 경로·사전확정 증액·자동 설계·유동화 연계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14 / 29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4206240"/>
                <a:gridCol w="359359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세그먼트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설계 형태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대체 경쟁 상품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30대 맞벌이·영유아 자녀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고보장, 자녀 독립 후 감액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정기보험, 종신+정기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단체보험 보유 직장인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저보장, 퇴직 시점부터 증액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체증형 종신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자영업자·부채 보유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부채 잔액 연동 감액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경영인정기, 갱신 정기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50대 상속 준비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후기 증액 + 유동화 특약 연계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유니버설 종신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20624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40080" y="420624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868680" y="43159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차별점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57200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연속적 스케줄과 재심사 없는 사전확정 증액(정기특약은 만기·갱신 단절이 있다), 생애주기 목표 기반 자동 설계 UX, 사망보험금 유동화 특약과의 연계 확장성.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spc="4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8346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고민과 해결 방안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dirty="0">
                <a:solidFill>
                  <a:srgbClr val="A9C6D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계리 검토 · 상품 규격 · 규제 제약 · 재설계 규칙 · 로드맵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1592" y="5120640"/>
            <a:ext cx="795528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ACTUARIAL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계리 검토: 산출은 문제가 아니다. 쟁점과 해결 방안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16 / 29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5120640"/>
                <a:gridCol w="42336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쟁점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내용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역선택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계약자가 자기 건강 정보에 맞춰 특정 연령대에 보험금을 집중시킬 수 있다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언더라이팅 기준 = max S, 연 증가율 상한과 증액 종료 연령, 증액 경로는 청약 시 확정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준비금 부담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후기 집중 스케줄은 준비금 누적이 빠르고 장수·금리 리스크 노출이 커진다. K-ICS 요구자본이 평준형보다 크다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요구자본 비용을 요율에 반영, 후기 배수 상한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사업비 기준 금액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신계약비(α)는 기준보험금에 비례하는데 스케줄이 계약마다 다르다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기준보험금 = 초기 5년 고정 보험금, 표준해약공제도 같은 정의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축하금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생존급부가 들어가면 저축 성분이 생겨 보장성 판단·세제·설명의무가 달라진다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순수생존보험 블록으로 분리, 보장성보험 요건을 시스템 제약으로 내장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정기전환 옵션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옵션 가치가 있으며 전환 후 요율과 준비금 이월 규칙이 필요하다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 특약으로 분리하고 규칙을 사전 확정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SPEC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규격 ①: 감액 자유·증액 제한의 비대칭 원칙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역선택은 증액에서만 발생한다. 감액은 언제든 허용하고 증액은 청약 시 확정한 스케줄만 인정한다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17 / 29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0080" y="17830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 txBox="1"/>
          <p:nvPr/>
        </p:nvSpPr>
        <p:spPr>
          <a:xfrm>
            <a:off x="640080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1325880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보험금 고정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1325880" y="23500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청약 시 확정한 보험금을 5년간 유지한다. 역선택 대기기간의 역할을 한다.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231636" y="17830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231636" y="17830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6231636" y="22402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6917436" y="19659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증액 경로 사전 확정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6917436" y="23500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이후 증액은 청약 시 정한 경로만 인정한다. 확정 경로 밖의 증액은 재고지 또는 재심사를 거친다.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33832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0" name="Shape 17"/>
          <p:cNvSpPr/>
          <p:nvPr/>
        </p:nvSpPr>
        <p:spPr>
          <a:xfrm>
            <a:off x="640080" y="33832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640080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35661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감액은 하한 안에서 자유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1325880" y="39502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예: 초기 보험금의 20%를 하한으로 두고 그 위에서는 언제든 감액할 수 있다.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231636" y="3383280"/>
            <a:ext cx="5317236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6231636" y="3383280"/>
            <a:ext cx="502920" cy="14173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6" name="Text 23"/>
          <p:cNvSpPr txBox="1"/>
          <p:nvPr/>
        </p:nvSpPr>
        <p:spPr>
          <a:xfrm>
            <a:off x="6231636" y="3840480"/>
            <a:ext cx="502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Text 24"/>
          <p:cNvSpPr txBox="1"/>
          <p:nvPr/>
        </p:nvSpPr>
        <p:spPr>
          <a:xfrm>
            <a:off x="6917436" y="3566160"/>
            <a:ext cx="44942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심사 기준 = max S</a:t>
            </a:r>
            <a:endParaRPr lang="en-US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6917436" y="3950208"/>
            <a:ext cx="44942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언더라이팅과 재정심사는 스케줄의 최대값을 기준으로 한다.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640080" y="50749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30" name="Shape 27"/>
          <p:cNvSpPr/>
          <p:nvPr/>
        </p:nvSpPr>
        <p:spPr>
          <a:xfrm>
            <a:off x="640080" y="50749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868680" y="51846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효과</a:t>
            </a:r>
            <a:endParaRPr lang="en-US" sz="900" dirty="0"/>
          </a:p>
        </p:txBody>
      </p:sp>
      <p:sp>
        <p:nvSpPr>
          <p:cNvPr id="32" name="Text 29"/>
          <p:cNvSpPr txBox="1"/>
          <p:nvPr/>
        </p:nvSpPr>
        <p:spPr>
          <a:xfrm>
            <a:off x="868680" y="54406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원칙은 신규 청약뿐 아니라 기존 계약 재설계에도 그대로 이어진다(재설계 후 5년 이내 연도는 감액만 허용).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· SPEC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상품 규격 ②: 1년 블록 유형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시스템이 블록 유형별 규정을 자동 적용한다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18 / 29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754880"/>
                <a:gridCol w="4325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블록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산식·처리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비고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순수보장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 · qₓ₊ₜ · Sₓ₊ₜ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기본 단위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생존급부(축하금)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vᵗ · ₜpₓ · Cₜ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생사혼합 블록은 "사망보장 + 순수생존보험"으로 분해하여 따로 평준화한다. 산식과 심사가 단순해진다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저해지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연도별 블록 속성이 아니라 계약 속성으로 처리. 납입기간 중 해약환급금 배율을 낮추는 대신 보험료를 낮춘다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5년 고정 구간에만 적용하고 이후 구간은 표준형으로 두는 절충안을 권고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640080" y="41605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1" name="Shape 7"/>
          <p:cNvSpPr/>
          <p:nvPr/>
        </p:nvSpPr>
        <p:spPr>
          <a:xfrm>
            <a:off x="640080" y="41605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 txBox="1"/>
          <p:nvPr/>
        </p:nvSpPr>
        <p:spPr>
          <a:xfrm>
            <a:off x="868680" y="4270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축하금 상한 규칙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868680" y="45262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보장성보험 요건(생존 시 지급보험금 합계 ≤ 그 시점까지 납입한 보험료)을 시스템 제약으로 내장하면 현행 종신보험이 허용하는 수준이 자동으로 지켜진다. 보장성 세액공제와 설명의무도 이 선 안에서 유지된다.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40080" y="52120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640080" y="5212080"/>
            <a:ext cx="54864" cy="960120"/>
          </a:xfrm>
          <a:prstGeom prst="rect">
            <a:avLst/>
          </a:prstGeom>
          <a:solidFill>
            <a:srgbClr val="C2704A"/>
          </a:solidFill>
          <a:ln w="12700">
            <a:solidFill>
              <a:srgbClr val="C2704A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 txBox="1"/>
          <p:nvPr/>
        </p:nvSpPr>
        <p:spPr>
          <a:xfrm>
            <a:off x="868680" y="5321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27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저해지 결합 주의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868680" y="55778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2024년 말 계리가정 가이드라인 이후 무·저해지 해지율 가정이 보수화되어 보험료 인하 폭이 작아졌다. 감액 자유 상품과 저해지를 전 구간에 결합하면 환급금 관련 민원이 생기기 쉽다.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 · REGULATION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규제·실무 제약: 제안서에서 정면으로 다룰 다섯 가지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19 / 29</a:t>
            </a:r>
            <a:endParaRPr lang="en-US" sz="9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394960"/>
                <a:gridCol w="38679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영역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제약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대응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감독 스탠스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금감원은 체증형 종신보험에 대해 보험료가 비싸고 설명이 부족하다는 이유로 소비자경보를 발령한 바 있다. 설계 자유도가 높을수록 복잡한 상품으로 읽힌다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프리셋 중심 도입, 비교 화면을 설명의무 도구로 설계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기초서류 심사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산출방법서는 산식으로 정의할 수 있으나 심사관은 허용 범위(envelope)를 요구한다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증감률 한도, 최소·최대 배수, 증액 종료 연령, 최소 보험금을 규격에 명시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무·저해지 결합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해지 시 손실이 큰 구조와 결합하면 규제 리스크가 급증한다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표준형 환급 구조로 시작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시스템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계약관리 시스템이 계약별 스케줄 벡터를 저장하고 매년 준비금을 재계산해야 한다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유니버설·변액 인프라 보유사 우선 제안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판매 수수료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초기 보험금이 낮은 설계는 설계사 수수료가 낮아 대면채널 유인이 약하다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디지털 채널 전용 또는 수수료 기준 금액 별도 정의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규칙: 이월 기준과 보장 현가 보존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24 / 29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783080"/>
            <a:ext cx="5317236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22960" y="192024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이월 기준액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2240280"/>
            <a:ext cx="49514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납입을 계속하는 재설계: 준비금(계약자적립액) 이월. 미회수 신계약비는 잔여 납입에서 회수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납입을 중단하는 재설계: 해약환급금 이월(감액완납과 같은 기준)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• 신계약비는 부과하지 않고 소액 변경 수수료 또는 유지비만 반영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31636" y="1783080"/>
            <a:ext cx="5317236" cy="233172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6414516" y="1920240"/>
            <a:ext cx="49514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역선택 통제: 보장 현가 보존</a:t>
            </a:r>
            <a:endParaRPr lang="en-US" sz="950" dirty="0"/>
          </a:p>
        </p:txBody>
      </p:sp>
      <p:sp>
        <p:nvSpPr>
          <p:cNvPr id="13" name="Text 10"/>
          <p:cNvSpPr txBox="1"/>
          <p:nvPr/>
        </p:nvSpPr>
        <p:spPr>
          <a:xfrm>
            <a:off x="6414516" y="2240280"/>
            <a:ext cx="49514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재설계를 등가 교환으로 정의하면 위험 총량이 늘지 않으므로 재심사가 필요 없다. 시점 재배분의 역선택을 막기 위해 두 조건을 함께 둔다.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동일 기초율로 PV(신 스케줄) ≤ PV(구 스케줄)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② 재설계 후 5년 이내 연도는 기존 이하로만 변경, 증액은 6년째 이후 연도에만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40080" y="434340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640080" y="434340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868680" y="445312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운영 규칙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868680" y="470916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변경 이력 관리, 재설계 횟수 제한(예: 연 1회), 최소 보험금 하한. 재설계 옵션 행사율 가정을 요율과 BEL에 반영한다.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07 · REDESIGN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재설계 규칙: 기초율과 회계 처리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25 / 29</a:t>
            </a:r>
            <a:endParaRPr lang="en-US" sz="9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83080"/>
          <a:ext cx="1090879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291840"/>
                <a:gridCol w="52395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경우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처리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유의점</a:t>
                      </a:r>
                      <a:endParaRPr lang="en-US" sz="1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240" cap="flat" cmpd="sng" algn="ctr">
                      <a:solidFill>
                        <a:srgbClr val="0A0A0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이 상품 안에서의 재설계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원계약 기초율(예정이율·위험률) 유지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약관에 재설계 옵션을 처음부터 내재시키면 IFRS17상 계약 수정이 아니라 계약 조건 내 옵션 행사로 처리할 여지가 생기고, 계약 소멸·재인식 없이 CSM 조정으로 끝날 수 있다. 인가 단계에서 회계팀과 합의 필요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845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기존 종신에서의 전환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전환특약(제도성특약) 형태, 대개 신상품 기초율 적용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A0A0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과거 고금리 확정형 계약은 예정이율이 낮아지면 같은 준비금으로 살 수 있는 보장이 크게 줄어든다. 원계약 유지 시나리오를 병렬로 보여 주어야 하며 이는 소비자보호 요건이기도 하다</a:t>
                      </a:r>
                      <a:endParaRPr lang="en-US" sz="11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63500" marB="63500" anchor="t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7620" cap="flat" cmpd="sng" algn="ctr">
                      <a:solidFill>
                        <a:srgbClr val="E3E6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40080" y="475488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0" name="Shape 6"/>
          <p:cNvSpPr/>
          <p:nvPr/>
        </p:nvSpPr>
        <p:spPr>
          <a:xfrm>
            <a:off x="640080" y="4754880"/>
            <a:ext cx="54864" cy="960120"/>
          </a:xfrm>
          <a:prstGeom prst="rect">
            <a:avLst/>
          </a:prstGeom>
          <a:solidFill>
            <a:srgbClr val="C2704A"/>
          </a:solidFill>
          <a:ln w="12700">
            <a:solidFill>
              <a:srgbClr val="C2704A"/>
            </a:solidFill>
            <a:prstDash val="solid"/>
          </a:ln>
        </p:spPr>
        <p:txBody>
          <a:bodyPr/>
          <a:p/>
        </p:txBody>
      </p:sp>
      <p:sp>
        <p:nvSpPr>
          <p:cNvPr id="11" name="Text 7"/>
          <p:cNvSpPr txBox="1"/>
          <p:nvPr/>
        </p:nvSpPr>
        <p:spPr>
          <a:xfrm>
            <a:off x="86868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C2704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과거 사례</a:t>
            </a:r>
            <a:endParaRPr lang="en-US" sz="900" dirty="0"/>
          </a:p>
        </p:txBody>
      </p:sp>
      <p:sp>
        <p:nvSpPr>
          <p:cNvPr id="12" name="Text 8"/>
          <p:cNvSpPr txBox="1"/>
          <p:nvPr/>
        </p:nvSpPr>
        <p:spPr>
          <a:xfrm>
            <a:off x="868680" y="512064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고금리 계약 전환 유도가 민원과 감독 지적을 받았던 이력이 있다. 비교 화면에서 기초율 차이로 인한 손실을 금액으로 표시한다.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05 · POLICYHOLDER VALUE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계약자 효율성: 보험료 예산에 보장 경로를 맞추는 구조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현행은 회사가 정한 보험금에 계약자가 보험료를 맞추고, 설계형은 계약자가 정한 예산에 보험금 경로를 맞춘다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26 / 29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783080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724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예산 역산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2926080" y="1892808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ä가 고정이므로 스케줄을 비례 조정하면 보험료가 선형으로 움직인다. 월 보험료를 입력하면 실현 가능한 경로가 즉시 나온다.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640080" y="2569464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777240" y="275234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중복보장 제거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2926080" y="2679192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단체보험·기존 정기가 있는 기간은 낮게, 소멸 이후는 높게 설계하여 이중 보험료를 없앤다.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40080" y="3355848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777240" y="35387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마찰비용 회피</a:t>
            </a:r>
            <a:endParaRPr lang="en-US" sz="1350" dirty="0"/>
          </a:p>
        </p:txBody>
      </p:sp>
      <p:sp>
        <p:nvSpPr>
          <p:cNvPr id="17" name="Text 14"/>
          <p:cNvSpPr txBox="1"/>
          <p:nvPr/>
        </p:nvSpPr>
        <p:spPr>
          <a:xfrm>
            <a:off x="2926080" y="3465576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사전 설계된 감액에는 중도 감액의 사업비 손실이 없다. 갱신형 정기의 고령기 보험료 급등도 피한다.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4142232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777240" y="43251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유지율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2926080" y="4251960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보험료가 소득 흐름과 맞으면 해지 유인이 줄고, 회사에도 CSM 안정과 사업비 회수로 돌아온다.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40080" y="4928616"/>
            <a:ext cx="2103120" cy="658368"/>
          </a:xfrm>
          <a:prstGeom prst="rect">
            <a:avLst/>
          </a:prstGeom>
          <a:solidFill>
            <a:srgbClr val="EDF4FA"/>
          </a:solidFill>
          <a:ln w="9525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777240" y="51114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비교 가능성</a:t>
            </a:r>
            <a:endParaRPr lang="en-US" sz="1350" dirty="0"/>
          </a:p>
        </p:txBody>
      </p:sp>
      <p:sp>
        <p:nvSpPr>
          <p:cNvPr id="23" name="Text 20"/>
          <p:cNvSpPr txBox="1"/>
          <p:nvPr/>
        </p:nvSpPr>
        <p:spPr>
          <a:xfrm>
            <a:off x="2926080" y="5038344"/>
            <a:ext cx="8622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같은 예산에서 평준형·종신+정기·설계형의 보험금 현가와 환급금을 나란히 보여 준다.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640080" y="57607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정량 비교(예: 40세 남자, 자녀 20세까지 3억 이후 5천만원 vs 평준형 3억)는 위험률표를 넣은 엔진에서 계산하며 이 자료에서는 수치를 추정하지 않는다.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08 · 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도입 로드맵: 인가 가능성과 시스템 부담을 함께 낮추는 순서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27 / 29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640080" y="1828800"/>
            <a:ext cx="3453384" cy="356616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40080" y="1828800"/>
            <a:ext cx="3453384" cy="502920"/>
          </a:xfrm>
          <a:prstGeom prst="rect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822960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1단계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인가 최소 구성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프리셋 스케줄 5~6종(자녀연령형·부채상환형·은퇴증액형 등) + 제한된 커스텀 구간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표준형 환급 구조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고정과 비대칭 원칙 내장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4093464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1"/>
          <p:cNvSpPr/>
          <p:nvPr/>
        </p:nvSpPr>
        <p:spPr>
          <a:xfrm>
            <a:off x="4367784" y="1828800"/>
            <a:ext cx="34533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4367784" y="1828800"/>
            <a:ext cx="3453384" cy="5029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4550664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2단계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550664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옵션 확장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4550664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정기전환 특약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납입면제 특약(기개발 특약 적용)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사망보험금 유동화 연계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상품 내 재설계 옵션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7821168" y="329184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A90C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95488" y="1828800"/>
            <a:ext cx="3453384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1" name="Shape 18"/>
          <p:cNvSpPr/>
          <p:nvPr/>
        </p:nvSpPr>
        <p:spPr>
          <a:xfrm>
            <a:off x="8095488" y="1828800"/>
            <a:ext cx="3453384" cy="5029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8278368" y="1938528"/>
            <a:ext cx="30876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3단계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8278368" y="2514600"/>
            <a:ext cx="30876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개방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78368" y="2971800"/>
            <a:ext cx="30876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완전 커스텀 스케줄을 디지털 채널 전용으로 개방</a:t>
            </a:r>
            <a:endParaRPr lang="en-US" sz="12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기존 종신보험 전환특약</a:t>
            </a:r>
            <a:endParaRPr lang="en-US" sz="12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09 · APP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설계 앱 개발 단계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Next.js 15 + 순수 TypeScript 엔진 + 브라우저 보관함(JSON·공유 링크) · 2026-09 현재 1~3단계 완료, 자동 테스트 139개·골든값 재현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28 / 29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640080" y="20299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417320" y="19019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MVP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1417320" y="22128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· 프리셋 6종 + 이중탈퇴 계산 엔진 + Excel 검산 시트(SUMPRODUCT 수식) + 수식 설명(?) 팝업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914400" y="24871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4" name="Shape 11"/>
          <p:cNvSpPr/>
          <p:nvPr/>
        </p:nvSpPr>
        <p:spPr>
          <a:xfrm>
            <a:off x="640080" y="28346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5" name="Text 12"/>
          <p:cNvSpPr txBox="1"/>
          <p:nvPr/>
        </p:nvSpPr>
        <p:spPr>
          <a:xfrm>
            <a:off x="640080" y="29443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1417320" y="28163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417320" y="31272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· 니즈·HLV 추천, 같은 예산 3안 비교, 제안서 인쇄, 공유 링크, 설정(가정 세트·envelope)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34015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0080" y="37490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640080" y="38587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1417320" y="37307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417320" y="40416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완료 · 재설계 모드(원계약→예산→재설계 캔버스→R01~R03·전환 손실 비교) + 근거 기반 프리셋·설계 규칙 팝업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4400" y="4315968"/>
            <a:ext cx="0" cy="329184"/>
          </a:xfrm>
          <a:prstGeom prst="line">
            <a:avLst/>
          </a:prstGeom>
          <a:noFill/>
          <a:ln w="12700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640080" y="4663440"/>
            <a:ext cx="548640" cy="548640"/>
          </a:xfrm>
          <a:prstGeom prst="ellipse">
            <a:avLst/>
          </a:prstGeom>
          <a:solidFill>
            <a:srgbClr val="4A90C2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6400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417320" y="4645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4단계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1417320" y="4956048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다음 · 회사별 기초율 업로드, 인가 문서 자동 생성, 사업비·준비금 민감도, 계약관리 API, 서버 저장</a:t>
            </a:r>
            <a:endParaRPr lang="en-US" sz="1250" dirty="0"/>
          </a:p>
        </p:txBody>
      </p:sp>
      <p:sp>
        <p:nvSpPr>
          <p:cNvPr id="28" name="Shape 25"/>
          <p:cNvSpPr/>
          <p:nvPr/>
        </p:nvSpPr>
        <p:spPr>
          <a:xfrm>
            <a:off x="640080" y="5532120"/>
            <a:ext cx="10908792" cy="68580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29" name="Shape 26"/>
          <p:cNvSpPr/>
          <p:nvPr/>
        </p:nvSpPr>
        <p:spPr>
          <a:xfrm>
            <a:off x="640080" y="5532120"/>
            <a:ext cx="54864" cy="68580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30" name="Text 27"/>
          <p:cNvSpPr txBox="1"/>
          <p:nvPr/>
        </p:nvSpPr>
        <p:spPr>
          <a:xfrm>
            <a:off x="868680" y="5641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검증 원칙</a:t>
            </a:r>
            <a:endParaRPr lang="en-US" sz="900" dirty="0"/>
          </a:p>
        </p:txBody>
      </p:sp>
      <p:sp>
        <p:nvSpPr>
          <p:cNvPr id="31" name="Text 28"/>
          <p:cNvSpPr txBox="1"/>
          <p:nvPr/>
        </p:nvSpPr>
        <p:spPr>
          <a:xfrm>
            <a:off x="868680" y="58978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가정값을 코드에 하드코딩하지 않고 가정 시트를 참조한다. 산출 결과는 Excel 검산과 대조한 뒤 배포한다.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4A90C2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10 · 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결론과 다음 단계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572768"/>
            <a:ext cx="10908792" cy="0"/>
          </a:xfrm>
          <a:prstGeom prst="line">
            <a:avLst/>
          </a:prstGeom>
          <a:noFill/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91072"/>
            <a:ext cx="225400" cy="31089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tk</a:t>
            </a:r>
            <a:pPr indent="0" marL="0">
              <a:buNone/>
            </a:pPr>
            <a:r>
              <a:rPr lang="en-US" sz="1300" b="1" dirty="0">
                <a:solidFill>
                  <a:srgbClr val="4A90C2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</a:t>
            </a:r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een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67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설계형 종신보험 검토 · 29 / 29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1828800"/>
            <a:ext cx="10908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상품은 계리적으로 새로운 상품이 아니라 보험금 스케줄을 계약자에게 돌려주는 운영 방식이다.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640080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7240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감액 자유·증액 제한의 비대칭 원칙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435858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2" name="Text 9"/>
          <p:cNvSpPr txBox="1"/>
          <p:nvPr/>
        </p:nvSpPr>
        <p:spPr>
          <a:xfrm>
            <a:off x="3573018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초기 5년 보험금 고정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231636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6368796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보장성보험 요건의 시스템 내장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9027414" y="2743200"/>
            <a:ext cx="2521458" cy="1005840"/>
          </a:xfrm>
          <a:prstGeom prst="rect">
            <a:avLst/>
          </a:prstGeom>
          <a:solidFill>
            <a:srgbClr val="EDF4FA"/>
          </a:solidFill>
          <a:ln w="12700">
            <a:solidFill>
              <a:srgbClr val="4A90C2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9164574" y="2880360"/>
            <a:ext cx="22471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845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보장 현가 보존 규칙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384048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67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네 가지 장치로 역선택과 규제 리스크를 통제한다.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4389120"/>
            <a:ext cx="10908792" cy="9601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  <a:prstDash val="solid"/>
          </a:ln>
        </p:spPr>
        <p:txBody>
          <a:bodyPr/>
          <a:p/>
        </p:txBody>
      </p:sp>
      <p:sp>
        <p:nvSpPr>
          <p:cNvPr id="19" name="Shape 16"/>
          <p:cNvSpPr/>
          <p:nvPr/>
        </p:nvSpPr>
        <p:spPr>
          <a:xfrm>
            <a:off x="640080" y="4389120"/>
            <a:ext cx="54864" cy="960120"/>
          </a:xfrm>
          <a:prstGeom prst="rect">
            <a:avLst/>
          </a:prstGeom>
          <a:solidFill>
            <a:srgbClr val="1B2845"/>
          </a:solidFill>
          <a:ln w="12700">
            <a:solidFill>
              <a:srgbClr val="1B2845"/>
            </a:solidFill>
            <a:prstDash val="solid"/>
          </a:ln>
        </p:spPr>
        <p:txBody>
          <a:bodyPr/>
          <a:p/>
        </p:txBody>
      </p:sp>
      <p:sp>
        <p:nvSpPr>
          <p:cNvPr id="20" name="Text 17"/>
          <p:cNvSpPr txBox="1"/>
          <p:nvPr/>
        </p:nvSpPr>
        <p:spPr>
          <a:xfrm>
            <a:off x="868680" y="4498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1B284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다음 단계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868680" y="4754880"/>
            <a:ext cx="10451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A0A0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① 계산 엔진 명세(입출력 변수·산식·제약 검증 규칙·검증 케이스) 작성  ② Excel 검산 파일 작성  ③ 프리셋 스케줄 5~6종 정의  ④ 보험사 제안서 초안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PART 1 · APP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근거 있는 프리셋: 조건을 넣으면 필요액 곡선이 보장이 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프리셋은 회사가 정한 모양이 아니라 계약자의 조건에서 수식으로 나온 출발점 · 공통 조건은 한 번만 입력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9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0" cy="3182112"/>
        </p:xfrm>
        <a:graphic>
          <a:graphicData uri="http://schemas.openxmlformats.org/drawingml/2006/table">
            <a:tbl>
              <a:tblPr firstRow="0" bandRow="0"/>
              <a:tblGrid>
                <a:gridCol w="1283387"/>
                <a:gridCol w="5133549"/>
                <a:gridCol w="2750115"/>
                <a:gridCol w="174173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프리셋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필요액 산정 (이론·수식)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계약자 조건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기준액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845"/>
                          </a:solidFill>
                          <a:latin typeface="Pretendard"/>
                        </a:rPr>
                        <a:t>자녀연령형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유족 생활비 현가 + 독립 전 자녀 교육·결혼 자금 + 정리자금 − 유동자산·기존 보장. 독립 뒤엔 정리자금만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자녀 나이·연소득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현재 필요액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845"/>
                          </a:solidFill>
                          <a:latin typeface="Pretendard"/>
                        </a:rPr>
                        <a:t>부채상환형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대출 잔액 B_t(원리금균등·원금균등·만기일시) + 정리자금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잔액·만기·금리·상환방식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잔액+정리자금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845"/>
                          </a:solidFill>
                          <a:latin typeface="Pretendard"/>
                        </a:rPr>
                        <a:t>은퇴증액형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배우자 생활비 × a(기대여명) + 정리자금 − 은퇴 자산 → 은퇴 전 니즈 대비 배수 R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은퇴시기·배우자 나이·월 생활비·은퇴 자산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니즈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845"/>
                          </a:solidFill>
                          <a:latin typeface="Pretendard"/>
                        </a:rPr>
                        <a:t>단체보험보완형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재직 중 1 − 단체보험 ÷ 니즈, 퇴직과 함께 100%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단체보험 보험금·은퇴시기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니즈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845"/>
                          </a:solidFill>
                          <a:latin typeface="Pretendard"/>
                        </a:rPr>
                        <a:t>상속준비형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순자산 증가 곡선의 상속세(공제·10~50% 누진) ÷ 70세 상속세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순자산·증가율·배우자·자녀 수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70세 상속세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845"/>
                          </a:solidFill>
                          <a:latin typeface="Pretendard"/>
                        </a:rPr>
                        <a:t>평준형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니즈(생활비·교육비·부채·정리자금 − 자산·기존 보장) 또는 HLV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연소득·유동자산·기존 보장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0A0A0A"/>
                          </a:solidFill>
                          <a:latin typeface="Pretendard"/>
                        </a:rPr>
                        <a:t>니즈 / HLV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5257800"/>
            <a:ext cx="10908792" cy="91440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40080" y="5257800"/>
            <a:ext cx="54864" cy="914400"/>
          </a:xfrm>
          <a:prstGeom prst="rect">
            <a:avLst/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68680" y="53675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B2845"/>
                </a:solidFill>
                <a:latin typeface="JetBrains Mono"/>
              </a:rPr>
              <a:t>곡선 → 보장 스케줄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623560"/>
            <a:ext cx="1045159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0A0A0A"/>
                </a:solidFill>
                <a:latin typeface="Pretendard"/>
              </a:rPr>
              <a:t>필요액 곡선을 설계 규칙에 맞춘다: 증액은 필요 시점에 맞춰 미리 시작(매년 최대 10%), 감액은 매년 10%씩 늦게 내려 보장이 필요액 아래로 가지 않는다. 카드의 "?"가 근거와 계산 수치를, "입력"이 조건 팝업을 연다.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PART 1 · APP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추가 조건: 프리셋 위에 개별 항목을 얹고, 결합하고, 다시 분리한다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자녀교육·대출상환·정액을 별도 선으로 보고, 결합하면 원 단위로 더해 규칙에 맞춘다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10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556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자녀교육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39112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1인당 최초 금액과 자녀 나이. 초기 5년 정액, 6년째부터 독립(25세)까지 직선 감액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624328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7157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59689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대출상환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880360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대출금과 상환기간. 초기 5년 정액, 6년째부터 만기까지 직선 감액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465576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35570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43814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정액 보장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721608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금액과 기간. 기간 동안 같은 금액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4306824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3982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427939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결합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562856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원 단위로 더한 뒤 3배 상한을 넘으면 기준보험금을 1천만원 단위로 올리고, 초기 5년 고정·매년 1칸 규칙에 맞춘다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5148072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52395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512064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분리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5404104"/>
            <a:ext cx="44805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결합 뒤 그래프를 바꾸지 않았으면 결합 전 상태로 되돌린다. 바꿨으면 되돌리기로만 취소</a:t>
            </a:r>
          </a:p>
        </p:txBody>
      </p:sp>
      <p:pic>
        <p:nvPicPr>
          <p:cNvPr id="29" name="Picture 28" descr="addon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9320" y="1783080"/>
            <a:ext cx="5559552" cy="3021496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989320" y="5349240"/>
            <a:ext cx="55595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673"/>
                </a:solidFill>
                <a:latin typeface="Pretendard"/>
              </a:rPr>
              <a:t>예: 평준형 1억 위에 자녀교육 1억(10세)과 대출상환 3억(10년)을 얹은 화면. 점선이 각 항목, 아래 목록에서 결합·분리·삭제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PART 1 · APP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설계 규칙: 계약자가 그려도 지켜지는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규칙은 코드에 숨기지 않고 "설계 규칙" 팝업으로 보여준다 · 프리셋·그래프 편집·재설계가 같은 규칙을 쓴다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11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6766560" cy="3694176"/>
        </p:xfrm>
        <a:graphic>
          <a:graphicData uri="http://schemas.openxmlformats.org/drawingml/2006/table">
            <a:tbl>
              <a:tblPr firstRow="0" bandRow="0"/>
              <a:tblGrid>
                <a:gridCol w="914400"/>
                <a:gridCol w="1463040"/>
                <a:gridCol w="438912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코드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규칙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내용 (기본값, 설정에서 변경)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E01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초기 고정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가입 후 5년은 보험금 변경 불가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1칸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단위·범위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1칸 = 기준보험금의 10%, 매년 최대 1칸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E02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연 증가율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20% 이내 (1칸 10%는 항상 허용)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E03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증액 종료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70세 이후 증액 불가 (감액은 가능)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E04·E05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상·하한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최대 3배, 기준보험금의 20% 이상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E06·E07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금액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1천만원 이상, 기준보험금 10억 이하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E08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축하금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보험금의 10%, 누계 ≤ 낸 보험료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300" b="1">
                          <a:solidFill>
                            <a:srgbClr val="1B2845"/>
                          </a:solidFill>
                          <a:latin typeface="Pretendard"/>
                        </a:rPr>
                        <a:t>곡선 적합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프리셋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>
                          <a:solidFill>
                            <a:srgbClr val="0A0A0A"/>
                          </a:solidFill>
                          <a:latin typeface="Pretendard"/>
                        </a:rPr>
                        <a:t>증액 앞당김·감액 지연·상하한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  <p:pic>
        <p:nvPicPr>
          <p:cNvPr id="10" name="Picture 9" descr="ru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783080"/>
            <a:ext cx="3913632" cy="37927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40080" y="5486400"/>
            <a:ext cx="10908792" cy="731520"/>
          </a:xfrm>
          <a:prstGeom prst="rect">
            <a:avLst/>
          </a:prstGeom>
          <a:solidFill>
            <a:srgbClr val="FBFCFD"/>
          </a:solidFill>
          <a:ln w="9525">
            <a:solidFill>
              <a:srgbClr val="E3E6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5486400"/>
            <a:ext cx="54864" cy="731520"/>
          </a:xfrm>
          <a:prstGeom prst="rect">
            <a:avLst/>
          </a:prstGeom>
          <a:solidFill>
            <a:srgbClr val="1B28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68680" y="559612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900" b="0">
                <a:solidFill>
                  <a:srgbClr val="1B2845"/>
                </a:solidFill>
                <a:latin typeface="JetBrains Mono"/>
              </a:rPr>
              <a:t>왜 규칙을 보여 주는가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45159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300" b="0">
                <a:solidFill>
                  <a:srgbClr val="0A0A0A"/>
                </a:solidFill>
                <a:latin typeface="Pretendard"/>
              </a:rPr>
              <a:t>허용 범위(envelope)를 산출방법서와 화면에 같은 문장으로 두면 인가 심사·설명의무·시스템 검증이 하나의 규격을 공유한다.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PART 1 · APP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계약자가 직접 조정한다: 프리셋 위에 자기 상황을 덧그린다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회사가 정한 구조를 고르는 것이 아니라, 근거 있는 출발점을 자기 손으로 고친다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12 / 29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40080" y="1874519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75564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드래그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203911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연령을 누르고 끌면 그 연령부터 같은 폭만큼 이동, 앞쪽엔 매년 한 칸씩 잇는 램프. 프리셋 모양 유지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496312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0080" y="258775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2468880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범위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2752344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직전 변경점 기준 ±(지난 연수)칸, 매년 최대 10%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9544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080" y="33009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182112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더블클릭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346557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그 연령 이후를 평탄화. 직선 위 변경점은 자동 삭제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3922776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0080" y="4014215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895344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되돌리기·초기화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4178808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드래그 한 번이 한 단계. 초기화는 1억·표준 평준형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36008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472744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608576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예산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892040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월 보험료 슬라이더는 모양은 두고 기준보험금만 바꾼다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5349240"/>
            <a:ext cx="457200" cy="457200"/>
          </a:xfrm>
          <a:prstGeom prst="rect">
            <a:avLst/>
          </a:prstGeom>
          <a:solidFill>
            <a:srgbClr val="4A90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0080" y="54406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JetBrains Mono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5321808"/>
            <a:ext cx="1737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1">
                <a:solidFill>
                  <a:srgbClr val="1B2845"/>
                </a:solidFill>
                <a:latin typeface="Pretendard"/>
              </a:rPr>
              <a:t>검증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5605272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0">
                <a:solidFill>
                  <a:srgbClr val="0A0A0A"/>
                </a:solidFill>
                <a:latin typeface="Pretendard"/>
              </a:rPr>
              <a:t>E01~E08 위반은 배지로 즉시 표시, 자동 수정 제안</a:t>
            </a:r>
          </a:p>
        </p:txBody>
      </p:sp>
      <p:pic>
        <p:nvPicPr>
          <p:cNvPr id="33" name="Picture 32" descr="evid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783080"/>
            <a:ext cx="5102352" cy="310924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6446520" y="5029200"/>
            <a:ext cx="5102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0">
                <a:solidFill>
                  <a:srgbClr val="5A6673"/>
                </a:solidFill>
                <a:latin typeface="Pretendard"/>
              </a:rPr>
              <a:t>근거 팝업: 이론·표준 모양·조건·현재 계산 수치·수식 링크. 설계사의 설명의무 화면이자 계약자가 스스로 확인하는 화면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04 · REGULATION 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현행 제도 점검 ①: 상품 인가·기초서류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2026년 기준 — 설계 자유도가 높은 상품이 부딪히는 지점과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20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1" cy="3163824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3200399"/>
                <a:gridCol w="3108960"/>
                <a:gridCol w="313639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제도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현행 내용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설계형에서 문제될 부분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해결 방안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기초서류 신고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보험업법 제127조: 새로운 위험담보·산출방식 변경은 사전 신고, 보험개발원 요율 검증. 감독규정 2026.1.2 개정 시행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연령별 보험금 벡터가 계약마다 달라 산출방법서를 '하나의 표'로 쓸 수 없다. 심사관은 허용 범위를 요구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산출방법서를 산식(1년 블록 현가 합 + E01~E08)으로 정의, 프리셋 6종을 대표 사례로 첨부. Excel 검산 시트를 검증 자료로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금소법 6대 판매원칙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적합성·적정성·설명의무·불공정영업 금지·부당권유 금지·광고 규제. 위반 시 청약철회·위법계약해지권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'계약자가 설계'하면 적합성 판단과 설명의 주체가 흐려지고 복잡한 상품으로 분류될 위험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조건 입력(적합성) → 근거 팝업(설명) → 규칙 검증(적정성)을 앱 흐름에 내장하고 제안서에 남긴다. 프리셋이 기본, 직접 편집은 한 단계 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04 · REGULATION 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현행 제도 점검 ②: 판매 관행·수수료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체증형 소비자경보와 2026년 수수료 개편에 대한 대응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21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1" cy="3163824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3200399"/>
                <a:gridCol w="3108960"/>
                <a:gridCol w="313639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제도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현행 내용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설계형에서 문제될 부분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해결 방안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체증형 종신 소비자경보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금감원: 체증형은 보험료가 비싸고 설명이 부족, 갈아타기 유도·무·저해지 결합 시 손실 위험 경고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증액 경로는 곧 체증형. 같은 경보 대상이 될 수 있다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같은 예산 3안 비교(평준·정기+종신·설계형)를 필수 화면으로, 증액은 필요액 근거가 있을 때만 제안. 저해지는 표준형 뒤에 선택지로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판매수수료 개편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2026.1 수수료 공시·5등급 비교, 2026.7 GA에도 1200% 룰, 첫해 집중 → 7년 분급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초기 보험금이 낮은 설계(단체보험보완·상속준비)는 첫해 수수료가 낮아 대면채널 유인이 약하다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수수료 기준액을 '초기 5년 고정 보험금'이 아닌 '스케줄 현가'로 정의해 신고. 유지 수수료 비중이 큰 분급 체계와 잘 맞는다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04 · REGULATION 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현행 제도 점검 ③: 계약 변경·회계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약관·회계가 전제하는 '고정 보험금'을 '약정된 스케줄'로 읽게 하는 것이 핵심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22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1" cy="3163824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3200399"/>
                <a:gridCol w="3108960"/>
                <a:gridCol w="313639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제도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현행 내용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설계형에서 문제될 부분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해결 방안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표준약관 계약 변경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계약내용 변경은 회사 승낙. 감액은 해지로 보아 환급금 지급, 증액은 계약 전 알릴의무·심사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매년 바뀌는 보험금을 '변경'으로 보면 해마다 승낙·고지·환급 절차가 생긴다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청약 시 확정한 스케줄은 변경이 아니라 약정(체증·체감형과 동일). 재설계 옵션을 약관에 내재해 옵션 행사로. 확정 경로 밖 증액만 재고지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무·저해지 계리가정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IFRS17 계리가정 가이드라인: 해지율은 로그-선형 원칙모형, 다른 기법은 차이·영향 공시(2025 재무제표부터)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저해지 옵션 결합 시 스케줄별 해지율 가정과 공시 부담 급증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표준형 환급 구조로 인가, 저해지는 후속 특약. 스케줄은 해지율 가정과 독립적으로 두고 CSM 조정으로 처리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0">
                <a:solidFill>
                  <a:srgbClr val="4A90C2"/>
                </a:solidFill>
                <a:latin typeface="JetBrains Mono"/>
              </a:rPr>
              <a:t>04 · REGULATION 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90879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600" b="1">
                <a:solidFill>
                  <a:srgbClr val="1B2845"/>
                </a:solidFill>
                <a:latin typeface="Pretendard"/>
              </a:rPr>
              <a:t>현행 제도 점검 ④: 세제·사망보험금 유동화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07008"/>
            <a:ext cx="109087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400" b="0">
                <a:solidFill>
                  <a:srgbClr val="5A6673"/>
                </a:solidFill>
                <a:latin typeface="Pretendard"/>
              </a:rPr>
              <a:t>보장성 유지와 2025년 유동화 제도와의 연결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572768"/>
            <a:ext cx="10908792" cy="0"/>
          </a:xfrm>
          <a:prstGeom prst="line">
            <a:avLst/>
          </a:prstGeom>
          <a:ln w="9525">
            <a:solidFill>
              <a:srgbClr val="1B284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291072"/>
            <a:ext cx="225421" cy="31089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50976" y="63093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00" b="1">
                <a:solidFill>
                  <a:srgbClr val="0A0A0A"/>
                </a:solidFill>
                <a:latin typeface="Fraunces"/>
              </a:rPr>
              <a:t>tkLeen</a:t>
            </a:r>
          </a:p>
        </p:txBody>
      </p:sp>
      <p:sp>
        <p:nvSpPr>
          <p:cNvPr id="8" name="FOOTER_PAGE"/>
          <p:cNvSpPr txBox="1"/>
          <p:nvPr/>
        </p:nvSpPr>
        <p:spPr>
          <a:xfrm>
            <a:off x="7891272" y="6309360"/>
            <a:ext cx="3657600" cy="27432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900">
                <a:solidFill>
                  <a:srgbClr val="5A6673"/>
                </a:solidFill>
                <a:latin typeface="JetBrains Mono"/>
              </a:rPr>
              <a:t>설계형 종신보험 검토 · 23 / 29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783080"/>
          <a:ext cx="10908791" cy="3163824"/>
        </p:xfrm>
        <a:graphic>
          <a:graphicData uri="http://schemas.openxmlformats.org/drawingml/2006/table">
            <a:tbl>
              <a:tblPr firstRow="0" bandRow="0"/>
              <a:tblGrid>
                <a:gridCol w="1463040"/>
                <a:gridCol w="3200399"/>
                <a:gridCol w="3108960"/>
                <a:gridCol w="3136392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제도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현행 내용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설계형에서 문제될 부분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해결 방안</a:t>
                      </a:r>
                    </a:p>
                  </a:txBody>
                  <a:tcPr marL="76200" marR="76200" marT="50800" marB="50800">
                    <a:solidFill>
                      <a:srgbClr val="FAFAF7"/>
                    </a:solidFill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세제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보험차익 비과세: 월적립식 5년 납·10년 유지·월 150만 한도, 순수보장성은 한도 없음. 계약자=피보험자 사망보험금은 간주상속재산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환급률·축하금(생존급부)이 커지면 저축성으로 분류돼 한도 적용. 상속세 재원 설계는 보험금 자체가 과세되는 점 반영 필요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축하금 누계 ≤ 납입보험료(E08)로 보장성 유지. 상속준비형은 세액 ÷ (1 − 한계세율)로 기준보험금 상향 안내. 계약자·수익자 구조 안내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  <a:tr h="1417320">
                <a:tc>
                  <a:txBody>
                    <a:bodyPr wrap="square"/>
                    <a:lstStyle/>
                    <a:p>
                      <a:r>
                        <a:rPr sz="1400" b="1">
                          <a:solidFill>
                            <a:srgbClr val="1B2845"/>
                          </a:solidFill>
                          <a:latin typeface="Pretendard"/>
                        </a:rPr>
                        <a:t>사망보험금 유동화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2025.10 시행: 55세 이상·금리확정형·9억 이하 종신의 사망보험금 최대 90%를 연금·서비스로 전환(2026.1 전 생보사)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후기 보험금이 큰 설계(은퇴증액·상속준비)일수록 유동화 가치가 커 상품 취지와 충돌할 수 있다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0">
                          <a:solidFill>
                            <a:srgbClr val="0A0A0A"/>
                          </a:solidFill>
                          <a:latin typeface="Pretendard"/>
                        </a:rPr>
                        <a:t>유동화를 '은퇴 후 감액 재설계'와 연결해 재설계 화면에서 연금 전환액을 함께 제시. 금리확정형 요건을 상품 규격에 반영</a:t>
                      </a:r>
                    </a:p>
                  </a:txBody>
                  <a:tcPr marL="76200" marR="76200" marT="50800" marB="50800">
                    <a:noFill/>
                    <a:lnL w="6350">
                      <a:solidFill>
                        <a:srgbClr val="E3E6EA"/>
                      </a:solidFill>
                    </a:lnL>
                    <a:lnR w="6350">
                      <a:solidFill>
                        <a:srgbClr val="E3E6EA"/>
                      </a:solidFill>
                    </a:lnR>
                    <a:lnT w="6350">
                      <a:solidFill>
                        <a:srgbClr val="E3E6EA"/>
                      </a:solidFill>
                    </a:lnT>
                    <a:lnB w="6350">
                      <a:solidFill>
                        <a:srgbClr val="E3E6EA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설계형 종신보험 검토 — 제안 자료</dc:title>
  <dc:subject>PptxGenJS Presentation</dc:subject>
  <dc:creator>tkLeen</dc:creator>
  <cp:lastModifiedBy>tkLeen</cp:lastModifiedBy>
  <cp:revision>1</cp:revision>
  <dcterms:created xsi:type="dcterms:W3CDTF">2026-09-09T22:43:42Z</dcterms:created>
  <dcterms:modified xsi:type="dcterms:W3CDTF">2026-09-09T22:43:42Z</dcterms:modified>
</cp:coreProperties>
</file>